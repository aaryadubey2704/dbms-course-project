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Golos Text"/>
      <p:regular r:id="rId201314"/>
    </p:embeddedFont>
    <p:embeddedFont>
      <p:font typeface="Golos Text Medium"/>
      <p:regular r:id="rId201315"/>
    </p:embeddedFont>
    <p:embeddedFont>
      <p:font typeface="Golos Text SemiBold"/>
      <p:regular r:id="rId201316"/>
    </p:embeddedFont>
    <p:embeddedFont>
      <p:font typeface="Golos Text Bold"/>
      <p:regular r:id="rId201317"/>
    </p:embeddedFont>
    <p:embeddedFont>
      <p:font typeface="Unbounded SemiBold"/>
      <p:regular r:id="rId201318"/>
    </p:embeddedFont>
    <p:embeddedFont>
      <p:font typeface="Inconsolata"/>
      <p:regular r:id="rId201319"/>
    </p:embeddedFont>
    <p:embeddedFont>
      <p:font typeface="Inconsolata Bold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397" cy="6858000"/>
          </a:xfrm>
          <a:prstGeom prst="rect">
            <a:avLst/>
          </a:prstGeom>
          <a:solidFill>
            <a:srgbClr val="EFE9F6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1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8-2.png"/><Relationship Id="rId3" Type="http://schemas.openxmlformats.org/officeDocument/2006/relationships/image" Target="../media/image-8-3.jpeg"/><Relationship Id="rId4" Type="http://schemas.openxmlformats.org/officeDocument/2006/relationships/image" Target="../media/image-8-3.jpeg"/><Relationship Id="rId5" Type="http://schemas.openxmlformats.org/officeDocument/2006/relationships/image" Target="../media/image-8-5.jpeg"/><Relationship Id="rId6" Type="http://schemas.openxmlformats.org/officeDocument/2006/relationships/image" Target="../media/image-8-6.jpe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7499" cy="6858000"/>
          </a:xfrm>
          <a:prstGeom prst="rect">
            <a:avLst/>
          </a:prstGeom>
          <a:solidFill>
            <a:srgbClr val="F4EFF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405" y="6558955"/>
            <a:ext cx="1071833" cy="2559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127499" y="0"/>
            <a:ext cx="4063700" cy="6857901"/>
          </a:xfrm>
          <a:prstGeom prst="rect">
            <a:avLst/>
          </a:prstGeom>
          <a:solidFill>
            <a:srgbClr val="EFE9F6"/>
          </a:solidFill>
          <a:ln/>
        </p:spPr>
      </p:sp>
      <p:sp>
        <p:nvSpPr>
          <p:cNvPr id="5" name="Shape 2"/>
          <p:cNvSpPr/>
          <p:nvPr/>
        </p:nvSpPr>
        <p:spPr>
          <a:xfrm>
            <a:off x="8127499" y="507901"/>
            <a:ext cx="3657310" cy="5613301"/>
          </a:xfrm>
          <a:prstGeom prst="rect">
            <a:avLst/>
          </a:prstGeom>
          <a:noFill/>
          <a:ln w="6350">
            <a:solidFill>
              <a:srgbClr val="D4AF5A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0047" y="590451"/>
            <a:ext cx="3492214" cy="544820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63806" y="166886"/>
            <a:ext cx="660185" cy="660202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82082" y="3682702"/>
            <a:ext cx="1860305" cy="31552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9" name="Text 5"/>
          <p:cNvSpPr/>
          <p:nvPr/>
        </p:nvSpPr>
        <p:spPr>
          <a:xfrm>
            <a:off x="279294" y="916686"/>
            <a:ext cx="779095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514A5C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DATABASE MANAGEMENT SYSTEM PROJECT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79294" y="1861267"/>
            <a:ext cx="7384667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b="1" spc="-30" kern="100" dirty="0">
                <a:solidFill>
                  <a:srgbClr val="2F2937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Tailoring and Boutique Order Management System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279294" y="3383895"/>
            <a:ext cx="779095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514A5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Python Tkinter · mysql.connector · MySQL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279294" y="3756223"/>
            <a:ext cx="744181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spc="15" kern="100" dirty="0">
                <a:solidFill>
                  <a:srgbClr val="514A5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Aarya Dubey (25WU0101003)</a:t>
            </a:r>
            <a:endParaRPr lang="en-US" sz="15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500" spc="15" kern="100" dirty="0">
                <a:solidFill>
                  <a:srgbClr val="514A5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D. Neshitha (25WU0101028)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09486" y="5920026"/>
            <a:ext cx="181704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48" kern="100" dirty="0">
                <a:solidFill>
                  <a:srgbClr val="514A5C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01 / 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886207" y="6446441"/>
            <a:ext cx="1305388" cy="431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2031949" cy="6858000"/>
          </a:xfrm>
          <a:prstGeom prst="rect">
            <a:avLst/>
          </a:prstGeom>
          <a:solidFill>
            <a:srgbClr val="EFE9F6"/>
          </a:solidFill>
          <a:ln/>
        </p:spPr>
      </p:sp>
      <p:sp>
        <p:nvSpPr>
          <p:cNvPr id="5" name="Shape 2"/>
          <p:cNvSpPr/>
          <p:nvPr/>
        </p:nvSpPr>
        <p:spPr>
          <a:xfrm>
            <a:off x="279195" y="330200"/>
            <a:ext cx="660185" cy="660202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9393" y="1246886"/>
            <a:ext cx="236402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2F2937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DBMS PROJECT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9393" y="1568648"/>
            <a:ext cx="380990" cy="31552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8" name="Text 5"/>
          <p:cNvSpPr/>
          <p:nvPr/>
        </p:nvSpPr>
        <p:spPr>
          <a:xfrm>
            <a:off x="279393" y="1728391"/>
            <a:ext cx="146681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F2937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Problem &amp; objectives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025599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0" name="Text 7"/>
          <p:cNvSpPr/>
          <p:nvPr/>
        </p:nvSpPr>
        <p:spPr>
          <a:xfrm>
            <a:off x="609585" y="6450251"/>
            <a:ext cx="181704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48" kern="100" dirty="0">
                <a:solidFill>
                  <a:srgbClr val="2F2937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02 / 10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489138" y="416560"/>
            <a:ext cx="9137124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30" kern="100" dirty="0">
                <a:solidFill>
                  <a:srgbClr val="2F2937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Problem &amp; objectives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2489138" y="1522909"/>
            <a:ext cx="9194173" cy="31552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13" name="Text 10"/>
          <p:cNvSpPr/>
          <p:nvPr/>
        </p:nvSpPr>
        <p:spPr>
          <a:xfrm>
            <a:off x="2489138" y="1787525"/>
            <a:ext cx="913712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Manual boutique records do not scale across customers, measurements, fabrics, orders, tailors, trials, alterations, invoices, and payments.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89138" y="2527895"/>
          <a:ext cx="9194272" cy="914400"/>
        </p:xfrm>
        <a:graphic>
          <a:graphicData uri="http://schemas.openxmlformats.org/drawingml/2006/table">
            <a:tbl>
              <a:tblPr/>
              <a:tblGrid>
                <a:gridCol w="4711086"/>
                <a:gridCol w="4483186"/>
              </a:tblGrid>
              <a:tr h="435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7A1128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Centralize data</a:t>
                      </a:r>
                      <a:endParaRPr lang="en-US" sz="17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0799" marR="50799" marT="77722" marB="77722" anchor="ctr">
                    <a:lnL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7A1128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Manage catalogues</a:t>
                      </a:r>
                      <a:endParaRPr lang="en-US" sz="17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0799" marR="50799" marT="77722" marB="77722" anchor="ctr">
                    <a:lnL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01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Customer and measurement data</a:t>
                      </a:r>
                      <a:endParaRPr lang="en-US" sz="15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0799" marR="50799" marT="346320" marB="346320" anchor="ctr">
                    <a:lnL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Garments, designs, fabrics, and stock</a:t>
                      </a:r>
                      <a:endParaRPr lang="en-US" sz="15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0799" marR="50799" marT="346320" marB="346320" anchor="ctr">
                    <a:lnL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5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7A1128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Track orders</a:t>
                      </a:r>
                      <a:endParaRPr lang="en-US" sz="17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0799" marR="50799" marT="77722" marB="77722" anchor="ctr">
                    <a:lnL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7A1128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Assign tailors</a:t>
                      </a:r>
                      <a:endParaRPr lang="en-US" sz="17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0799" marR="50799" marT="77722" marB="77722" anchor="ctr">
                    <a:lnL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5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Orders, delivery, and fitting trials</a:t>
                      </a:r>
                      <a:endParaRPr lang="en-US" sz="15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0799" marR="50799" marT="232023" marB="232023" anchor="ctr">
                    <a:lnL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Assignments, trials, and alterations</a:t>
                      </a:r>
                      <a:endParaRPr lang="en-US" sz="15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0799" marR="50799" marT="232023" marB="232023" anchor="ctr">
                    <a:lnL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5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7A1128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Protect integrity</a:t>
                      </a:r>
                      <a:endParaRPr lang="en-US" sz="17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0799" marR="50799" marT="77722" marB="77722" anchor="ctr">
                    <a:lnL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7A1128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Support reports</a:t>
                      </a:r>
                      <a:endParaRPr lang="en-US" sz="17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0799" marR="50799" marT="77722" marB="77722" anchor="ctr">
                    <a:lnL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Inventory and payment integrity</a:t>
                      </a:r>
                      <a:endParaRPr lang="en-US" sz="15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0799" marR="50799" marT="77722" marB="77722" anchor="ctr">
                    <a:lnL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Delivery, workload, and revenue</a:t>
                      </a:r>
                      <a:endParaRPr lang="en-US" sz="15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50799" marR="50799" marT="77722" marB="77722" anchor="ctr">
                    <a:lnL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7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886207" y="6455073"/>
            <a:ext cx="1305388" cy="431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9585" y="632460"/>
            <a:ext cx="10915079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30" kern="100" dirty="0">
                <a:solidFill>
                  <a:srgbClr val="2F2937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Scope: one workflow, one system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09585" y="1249025"/>
            <a:ext cx="5200321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Boutique operations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09585" y="1680170"/>
            <a:ext cx="5257470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Customer and measurement profiles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Garment, design, and fabric catalogues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Order booking and delivery tracking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Tailor assignments and fitting trials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Alterations, invoicing, and payments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324243" y="1249025"/>
            <a:ext cx="5200321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Technology stack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324243" y="1680170"/>
            <a:ext cx="5257470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Python Tkinter · ttk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mysql.connector · MySQL 8.0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SQL views and triggers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09585" y="3679130"/>
            <a:ext cx="10972228" cy="31552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10" name="Text 7"/>
          <p:cNvSpPr/>
          <p:nvPr/>
        </p:nvSpPr>
        <p:spPr>
          <a:xfrm>
            <a:off x="609585" y="3959328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8A6A1D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9585" y="4333577"/>
            <a:ext cx="3555713" cy="770830"/>
          </a:xfrm>
          <a:prstGeom prst="rect">
            <a:avLst/>
          </a:prstGeom>
          <a:solidFill>
            <a:srgbClr val="F8F2F3"/>
          </a:solidFill>
          <a:ln/>
        </p:spPr>
      </p:sp>
      <p:sp>
        <p:nvSpPr>
          <p:cNvPr id="12" name="Text 9"/>
          <p:cNvSpPr/>
          <p:nvPr/>
        </p:nvSpPr>
        <p:spPr>
          <a:xfrm>
            <a:off x="838179" y="4574242"/>
            <a:ext cx="3041375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Python Tkinter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4317694" y="4574242"/>
            <a:ext cx="3498564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mysql.connector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8025902" y="4333577"/>
            <a:ext cx="3555713" cy="770830"/>
          </a:xfrm>
          <a:prstGeom prst="rect">
            <a:avLst/>
          </a:prstGeom>
          <a:solidFill>
            <a:srgbClr val="F8F2F3"/>
          </a:solidFill>
          <a:ln/>
        </p:spPr>
      </p:sp>
      <p:sp>
        <p:nvSpPr>
          <p:cNvPr id="15" name="Text 12"/>
          <p:cNvSpPr/>
          <p:nvPr/>
        </p:nvSpPr>
        <p:spPr>
          <a:xfrm>
            <a:off x="8254496" y="4574242"/>
            <a:ext cx="3041375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MySQL 8.0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6089299" y="1236960"/>
            <a:ext cx="12700" cy="2196207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7" name="Text 14"/>
          <p:cNvSpPr/>
          <p:nvPr/>
        </p:nvSpPr>
        <p:spPr>
          <a:xfrm>
            <a:off x="609585" y="6450251"/>
            <a:ext cx="181704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48" kern="100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03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49" cy="6858000"/>
          </a:xfrm>
          <a:prstGeom prst="rect">
            <a:avLst/>
          </a:prstGeom>
          <a:solidFill>
            <a:srgbClr val="EFE9F6"/>
          </a:solidFill>
          <a:ln/>
        </p:spPr>
      </p:sp>
      <p:sp>
        <p:nvSpPr>
          <p:cNvPr id="3" name="Shape 1"/>
          <p:cNvSpPr/>
          <p:nvPr/>
        </p:nvSpPr>
        <p:spPr>
          <a:xfrm>
            <a:off x="279195" y="330200"/>
            <a:ext cx="660185" cy="660202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294" y="1246787"/>
            <a:ext cx="198531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2F2937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DBMS PROJECT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9294" y="1568648"/>
            <a:ext cx="380891" cy="31552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6" name="Text 4"/>
          <p:cNvSpPr/>
          <p:nvPr/>
        </p:nvSpPr>
        <p:spPr>
          <a:xfrm>
            <a:off x="279294" y="1751211"/>
            <a:ext cx="198531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F2937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Data model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025401" y="99"/>
            <a:ext cx="12600" cy="6857603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8" name="Text 6"/>
          <p:cNvSpPr/>
          <p:nvPr/>
        </p:nvSpPr>
        <p:spPr>
          <a:xfrm>
            <a:off x="609486" y="6450052"/>
            <a:ext cx="165512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48" kern="100" dirty="0">
                <a:solidFill>
                  <a:srgbClr val="2F2937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04 / 10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89138" y="454660"/>
            <a:ext cx="9137124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30" kern="100" dirty="0">
                <a:solidFill>
                  <a:srgbClr val="2F2937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ER Diagram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489138" y="1111448"/>
            <a:ext cx="9194173" cy="31552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4195" y="1235373"/>
            <a:ext cx="5359067" cy="357286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489138" y="4937427"/>
            <a:ext cx="499712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8A6A1D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ENTITIES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489138" y="5223669"/>
            <a:ext cx="444469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5C637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Customer, Measurement Profile, Garment Type, Design, Fabric, Stock, Order, Order Item, Fabric Issue, Tailor, Assignment, Trial, Alteration, Invoice, Payment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238620" y="4937427"/>
            <a:ext cx="495307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8A6A1D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WORKFLOW LINKS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238620" y="5223669"/>
            <a:ext cx="4387542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5C637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Customer → Orders; Order → Items and Invoice; Tailor → Assignments; Order → Trials and Alterations; Invoice → Payments</a:t>
            </a:r>
            <a:endParaRPr lang="en-US" sz="12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886307" y="6446441"/>
            <a:ext cx="1305388" cy="41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886207" y="6446441"/>
            <a:ext cx="1305388" cy="431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25559" cy="6858000"/>
          </a:xfrm>
          <a:prstGeom prst="rect">
            <a:avLst/>
          </a:prstGeom>
          <a:solidFill>
            <a:srgbClr val="EFE9F6"/>
          </a:solidFill>
          <a:ln/>
        </p:spPr>
      </p:sp>
      <p:sp>
        <p:nvSpPr>
          <p:cNvPr id="5" name="Shape 2"/>
          <p:cNvSpPr/>
          <p:nvPr/>
        </p:nvSpPr>
        <p:spPr>
          <a:xfrm>
            <a:off x="279195" y="330200"/>
            <a:ext cx="660185" cy="660202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9393" y="1246886"/>
            <a:ext cx="189860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2F2937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DBMS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9393" y="1568648"/>
            <a:ext cx="298244" cy="31552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8" name="Text 5"/>
          <p:cNvSpPr/>
          <p:nvPr/>
        </p:nvSpPr>
        <p:spPr>
          <a:xfrm>
            <a:off x="279393" y="1751310"/>
            <a:ext cx="189860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F2937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Schema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619209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0" name="Text 7"/>
          <p:cNvSpPr/>
          <p:nvPr/>
        </p:nvSpPr>
        <p:spPr>
          <a:xfrm>
            <a:off x="609585" y="6450251"/>
            <a:ext cx="181704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48" kern="100" dirty="0">
                <a:solidFill>
                  <a:srgbClr val="2F2937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05 / 10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981150" y="251460"/>
            <a:ext cx="1015339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30" kern="100" dirty="0">
                <a:solidFill>
                  <a:srgbClr val="2F2937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Relational schema, normalized to 3NF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1981150" y="908248"/>
            <a:ext cx="9854656" cy="31552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81150" y="1186160"/>
          <a:ext cx="9854656" cy="914400"/>
        </p:xfrm>
        <a:graphic>
          <a:graphicData uri="http://schemas.openxmlformats.org/drawingml/2006/table">
            <a:tbl>
              <a:tblPr/>
              <a:tblGrid>
                <a:gridCol w="4927278"/>
                <a:gridCol w="4927378"/>
              </a:tblGrid>
              <a:tr h="75414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CUSTOMERS(customer_id, customer_code, full_name, phone, email)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61921" marR="161921" marT="126870" marB="126870" anchor="ctr">
                    <a:lnL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ORDERS(order_id, order_no, customer_id, order_date, delivery_date, status)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61921" marR="161921" marT="126870" marB="126870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57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ORDER_ITEMS(order_item_id, order_id, garment_type_id, design_id, fabric_id, quantity, unit_price)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61921" marR="161921" marT="65911" marB="65911" anchor="ctr">
                    <a:lnL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TAILORS(tailor_id, tailor_code, tailor_name, specialization, status)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61921" marR="161921" marT="65911" marB="65911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143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INVOICES(invoice_id, invoice_no, order_id, subtotal, alteration_total, total_amount)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61921" marR="161921" marT="126870" marB="126870" anchor="ctr">
                    <a:lnL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75414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TAILORS(tailor_id, tailor_code, tailor_name, specialization, status)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61921" marR="161921" marT="126870" marB="126870" anchor="ctr">
                    <a:lnL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INVOICES(invoice_id, invoice_no, order_id, subtotal, alteration_total, total_amount)</a:t>
                      </a:r>
                      <a:endParaRPr lang="en-US" sz="16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61921" marR="161921" marT="126870" marB="126870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08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161921" marR="161921" marT="106677" marB="106677" anchor="ctr">
                    <a:lnL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1981150" y="4833382"/>
            <a:ext cx="312610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B2F3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1NF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atomic values, no repeating groups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316702" y="4833382"/>
            <a:ext cx="312610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B2F3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2NF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order- and item-level facts separated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8652353" y="4833382"/>
            <a:ext cx="3126106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B2F3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3NF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customer, garment, fabric, and tailor details separated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49" cy="6858000"/>
          </a:xfrm>
          <a:prstGeom prst="rect">
            <a:avLst/>
          </a:prstGeom>
          <a:solidFill>
            <a:srgbClr val="EFE9F6"/>
          </a:solidFill>
          <a:ln/>
        </p:spPr>
      </p:sp>
      <p:sp>
        <p:nvSpPr>
          <p:cNvPr id="3" name="Shape 1"/>
          <p:cNvSpPr/>
          <p:nvPr/>
        </p:nvSpPr>
        <p:spPr>
          <a:xfrm>
            <a:off x="2489138" y="1849934"/>
            <a:ext cx="9194272" cy="1122462"/>
          </a:xfrm>
          <a:prstGeom prst="roundRect">
            <a:avLst>
              <a:gd name="adj" fmla="val 1222"/>
            </a:avLst>
          </a:prstGeom>
          <a:solidFill>
            <a:srgbClr val="F8F2F3"/>
          </a:solidFill>
          <a:ln/>
        </p:spPr>
      </p:sp>
      <p:sp>
        <p:nvSpPr>
          <p:cNvPr id="4" name="Shape 2"/>
          <p:cNvSpPr/>
          <p:nvPr/>
        </p:nvSpPr>
        <p:spPr>
          <a:xfrm>
            <a:off x="279195" y="330200"/>
            <a:ext cx="660185" cy="660202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9294" y="1246787"/>
            <a:ext cx="198531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2F2937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DBMS PROJECT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9294" y="1568648"/>
            <a:ext cx="380891" cy="31552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7" name="Text 5"/>
          <p:cNvSpPr/>
          <p:nvPr/>
        </p:nvSpPr>
        <p:spPr>
          <a:xfrm>
            <a:off x="279294" y="1751211"/>
            <a:ext cx="198531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F2937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MySQL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25401" y="99"/>
            <a:ext cx="12600" cy="6857603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9" name="Text 7"/>
          <p:cNvSpPr/>
          <p:nvPr/>
        </p:nvSpPr>
        <p:spPr>
          <a:xfrm>
            <a:off x="609486" y="6450052"/>
            <a:ext cx="165512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48" kern="100" dirty="0">
                <a:solidFill>
                  <a:srgbClr val="2F2937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06 /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89138" y="416560"/>
            <a:ext cx="9194272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30" kern="100" dirty="0">
                <a:solidFill>
                  <a:srgbClr val="2F2937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Database built and managed in MySQL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2489138" y="1522909"/>
            <a:ext cx="9194173" cy="31552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7993" y="2080121"/>
            <a:ext cx="8676264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CREATE DATABASE tailoring_boutique;</a:t>
            </a:r>
            <a:endParaRPr lang="en-US" sz="1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CREATE TABLE customers (...);</a:t>
            </a:r>
            <a:endParaRPr lang="en-US" sz="17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733" y="3342084"/>
            <a:ext cx="2991370" cy="182622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2905" y="3342084"/>
            <a:ext cx="2887888" cy="182622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892" y="3342084"/>
            <a:ext cx="3387343" cy="18262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489138" y="5320605"/>
            <a:ext cx="9194272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750"/>
              </a:spcAft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Primary Key · Foreign Key · UNIQUE · NOT NULL · CHECK</a:t>
            </a:r>
            <a:endParaRPr lang="en-US" sz="15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Triggers prevent fabric issues beyond stock and payments beyond invoice balance.</a:t>
            </a:r>
            <a:endParaRPr lang="en-US" sz="15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At least 5 records are inserted into each table.</a:t>
            </a:r>
            <a:endParaRPr lang="en-US" sz="15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0886307" y="6446441"/>
            <a:ext cx="1305388" cy="41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559" cy="6858000"/>
          </a:xfrm>
          <a:prstGeom prst="rect">
            <a:avLst/>
          </a:prstGeom>
          <a:solidFill>
            <a:srgbClr val="EFE9F6"/>
          </a:solidFill>
          <a:ln/>
        </p:spPr>
      </p:sp>
      <p:sp>
        <p:nvSpPr>
          <p:cNvPr id="4" name="Shape 1"/>
          <p:cNvSpPr/>
          <p:nvPr/>
        </p:nvSpPr>
        <p:spPr>
          <a:xfrm>
            <a:off x="279195" y="330200"/>
            <a:ext cx="660185" cy="660202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9393" y="1246886"/>
            <a:ext cx="189860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2F2937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DBMS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9393" y="1568648"/>
            <a:ext cx="298244" cy="31552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7" name="Text 4"/>
          <p:cNvSpPr/>
          <p:nvPr/>
        </p:nvSpPr>
        <p:spPr>
          <a:xfrm>
            <a:off x="279393" y="1751310"/>
            <a:ext cx="189860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F2937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Queries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619209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9" name="Text 6"/>
          <p:cNvSpPr/>
          <p:nvPr/>
        </p:nvSpPr>
        <p:spPr>
          <a:xfrm>
            <a:off x="609585" y="6450251"/>
            <a:ext cx="181704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48" kern="100" dirty="0">
                <a:solidFill>
                  <a:srgbClr val="2F2937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07 / 10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006550" y="327660"/>
            <a:ext cx="9721309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30" kern="100" dirty="0">
                <a:solidFill>
                  <a:srgbClr val="2F2937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SQL queries and outputs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2006550" y="984448"/>
            <a:ext cx="9778458" cy="31552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12" name="Shape 9"/>
          <p:cNvSpPr/>
          <p:nvPr/>
        </p:nvSpPr>
        <p:spPr>
          <a:xfrm>
            <a:off x="2006550" y="1262360"/>
            <a:ext cx="4812981" cy="2694682"/>
          </a:xfrm>
          <a:prstGeom prst="rect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33547" y="1400155"/>
            <a:ext cx="5111424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F2937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JOIN · customers + orders + invoices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2133547" y="1912838"/>
            <a:ext cx="4558988" cy="1467941"/>
          </a:xfrm>
          <a:prstGeom prst="roundRect">
            <a:avLst>
              <a:gd name="adj" fmla="val 934"/>
            </a:avLst>
          </a:prstGeom>
          <a:solidFill>
            <a:srgbClr val="F8F2F3"/>
          </a:solidFill>
          <a:ln/>
        </p:spPr>
      </p:sp>
      <p:sp>
        <p:nvSpPr>
          <p:cNvPr id="15" name="Text 12"/>
          <p:cNvSpPr/>
          <p:nvPr/>
        </p:nvSpPr>
        <p:spPr>
          <a:xfrm>
            <a:off x="2392402" y="2142927"/>
            <a:ext cx="3983831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SELECT c.full_name, o.order_no, o.status, i.total_amount ...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2133547" y="3629223"/>
            <a:ext cx="523842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5C637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Output: customer, order status, invoice total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971927" y="1262360"/>
            <a:ext cx="4812981" cy="2694682"/>
          </a:xfrm>
          <a:prstGeom prst="rect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98924" y="1400155"/>
            <a:ext cx="509277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F2937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Aggregate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7098924" y="1912838"/>
            <a:ext cx="4558988" cy="1467941"/>
          </a:xfrm>
          <a:prstGeom prst="roundRect">
            <a:avLst>
              <a:gd name="adj" fmla="val 934"/>
            </a:avLst>
          </a:prstGeom>
          <a:solidFill>
            <a:srgbClr val="F8F2F3"/>
          </a:solidFill>
          <a:ln/>
        </p:spPr>
      </p:sp>
      <p:sp>
        <p:nvSpPr>
          <p:cNvPr id="20" name="Text 17"/>
          <p:cNvSpPr/>
          <p:nvPr/>
        </p:nvSpPr>
        <p:spPr>
          <a:xfrm>
            <a:off x="7357878" y="2142927"/>
            <a:ext cx="3983831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SELECT tailor_id, COUNT(*) AS assigned_orders ... GROUP BY tailor_id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7098924" y="3629223"/>
            <a:ext cx="509277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5C637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Output: assigned-order counts by tailor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2006550" y="4109442"/>
            <a:ext cx="4812981" cy="2349202"/>
          </a:xfrm>
          <a:prstGeom prst="rect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133547" y="4247237"/>
            <a:ext cx="5111424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F2937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Subquery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2133547" y="4759920"/>
            <a:ext cx="4558988" cy="1122462"/>
          </a:xfrm>
          <a:prstGeom prst="roundRect">
            <a:avLst>
              <a:gd name="adj" fmla="val 1222"/>
            </a:avLst>
          </a:prstGeom>
          <a:solidFill>
            <a:srgbClr val="F8F2F3"/>
          </a:solidFill>
          <a:ln/>
        </p:spPr>
      </p:sp>
      <p:sp>
        <p:nvSpPr>
          <p:cNvPr id="25" name="Text 22"/>
          <p:cNvSpPr/>
          <p:nvPr/>
        </p:nvSpPr>
        <p:spPr>
          <a:xfrm>
            <a:off x="2392402" y="4990009"/>
            <a:ext cx="3983831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WHERE total_amount = (SELECT MAX(total_amount) FROM invoices)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2133547" y="6130826"/>
            <a:ext cx="523842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5C637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Output: invoice with maximum total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971927" y="4109442"/>
            <a:ext cx="4812981" cy="2349202"/>
          </a:xfrm>
          <a:prstGeom prst="rect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98924" y="4247237"/>
            <a:ext cx="509277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F2937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View report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7098924" y="4759920"/>
            <a:ext cx="4558988" cy="1122462"/>
          </a:xfrm>
          <a:prstGeom prst="roundRect">
            <a:avLst>
              <a:gd name="adj" fmla="val 1222"/>
            </a:avLst>
          </a:prstGeom>
          <a:solidFill>
            <a:srgbClr val="F8F2F3"/>
          </a:solidFill>
          <a:ln/>
        </p:spPr>
      </p:sp>
      <p:sp>
        <p:nvSpPr>
          <p:cNvPr id="30" name="Text 27"/>
          <p:cNvSpPr/>
          <p:nvPr/>
        </p:nvSpPr>
        <p:spPr>
          <a:xfrm>
            <a:off x="7357878" y="4990009"/>
            <a:ext cx="4593416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SELECT * FROM v_delivery_due;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7098924" y="6130826"/>
            <a:ext cx="509277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5C637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Output: delivery-due report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10886207" y="6446441"/>
            <a:ext cx="1305388" cy="431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886207" y="6446441"/>
            <a:ext cx="1305388" cy="431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2031949" cy="6858000"/>
          </a:xfrm>
          <a:prstGeom prst="rect">
            <a:avLst/>
          </a:prstGeom>
          <a:solidFill>
            <a:srgbClr val="EFE9F6"/>
          </a:solidFill>
          <a:ln/>
        </p:spPr>
      </p:sp>
      <p:sp>
        <p:nvSpPr>
          <p:cNvPr id="5" name="Shape 2"/>
          <p:cNvSpPr/>
          <p:nvPr/>
        </p:nvSpPr>
        <p:spPr>
          <a:xfrm>
            <a:off x="279195" y="330200"/>
            <a:ext cx="660185" cy="660202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9393" y="1246886"/>
            <a:ext cx="236402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2F2937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DBMS PROJECT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9393" y="1568648"/>
            <a:ext cx="380990" cy="31552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8" name="Text 5"/>
          <p:cNvSpPr/>
          <p:nvPr/>
        </p:nvSpPr>
        <p:spPr>
          <a:xfrm>
            <a:off x="279393" y="1751310"/>
            <a:ext cx="230499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F2937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Interface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025599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0" name="Text 7"/>
          <p:cNvSpPr/>
          <p:nvPr/>
        </p:nvSpPr>
        <p:spPr>
          <a:xfrm>
            <a:off x="609585" y="6450251"/>
            <a:ext cx="181704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48" kern="100" dirty="0">
                <a:solidFill>
                  <a:srgbClr val="2F2937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08 / 10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489138" y="454660"/>
            <a:ext cx="9137124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30" kern="100" dirty="0">
                <a:solidFill>
                  <a:srgbClr val="2F2937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Working system: boutique interface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2489138" y="1111448"/>
            <a:ext cx="9194173" cy="31552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342" y="1335980"/>
            <a:ext cx="2112116" cy="2403673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6501" y="1330623"/>
            <a:ext cx="3129380" cy="193288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024" y="1330623"/>
            <a:ext cx="3129380" cy="1932880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440" y="3424238"/>
            <a:ext cx="3404705" cy="2102941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7619" y="3428802"/>
            <a:ext cx="3663660" cy="2262981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1342" y="3932535"/>
            <a:ext cx="2096440" cy="21663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886207" y="6446441"/>
            <a:ext cx="1305388" cy="431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2031949" cy="6858000"/>
          </a:xfrm>
          <a:prstGeom prst="rect">
            <a:avLst/>
          </a:prstGeom>
          <a:solidFill>
            <a:srgbClr val="EFE9F6"/>
          </a:solidFill>
          <a:ln/>
        </p:spPr>
      </p:sp>
      <p:sp>
        <p:nvSpPr>
          <p:cNvPr id="5" name="Shape 2"/>
          <p:cNvSpPr/>
          <p:nvPr/>
        </p:nvSpPr>
        <p:spPr>
          <a:xfrm>
            <a:off x="279195" y="330200"/>
            <a:ext cx="660185" cy="660202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9393" y="1246886"/>
            <a:ext cx="236402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2F2937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DBMS PROJECT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9393" y="1568648"/>
            <a:ext cx="380990" cy="31552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8" name="Text 5"/>
          <p:cNvSpPr/>
          <p:nvPr/>
        </p:nvSpPr>
        <p:spPr>
          <a:xfrm>
            <a:off x="279393" y="1751310"/>
            <a:ext cx="230499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F2937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Workflow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025599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0" name="Text 7"/>
          <p:cNvSpPr/>
          <p:nvPr/>
        </p:nvSpPr>
        <p:spPr>
          <a:xfrm>
            <a:off x="609585" y="6450251"/>
            <a:ext cx="181704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48" kern="100" dirty="0">
                <a:solidFill>
                  <a:srgbClr val="2F2937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09 / 10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489138" y="454660"/>
            <a:ext cx="9137124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30" kern="100" dirty="0">
                <a:solidFill>
                  <a:srgbClr val="2F2937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From customer record to payment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2489138" y="1111448"/>
            <a:ext cx="9194173" cy="31552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138" y="5105400"/>
            <a:ext cx="9194272" cy="6858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489138" y="1389360"/>
            <a:ext cx="4317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546386" y="1525153"/>
            <a:ext cx="14789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F2937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489138" y="1961336"/>
            <a:ext cx="2698682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F2937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Customer profile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2489138" y="2392362"/>
            <a:ext cx="269868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5C637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Customer and measurements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939978" y="1389360"/>
            <a:ext cx="4317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97424" y="1525153"/>
            <a:ext cx="14789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F2937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939978" y="1961336"/>
            <a:ext cx="273231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F2937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Order booking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4939978" y="2365375"/>
            <a:ext cx="254628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5C637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Garment, design, fabric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7238620" y="1389360"/>
            <a:ext cx="4317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295967" y="1525153"/>
            <a:ext cx="14789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F2937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7238620" y="1924625"/>
            <a:ext cx="2546286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F2937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Tailor assignment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7238620" y="2645966"/>
            <a:ext cx="254628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5C637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Fabric issue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9537164" y="1389360"/>
            <a:ext cx="4317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594610" y="1525153"/>
            <a:ext cx="14789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F2937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9537164" y="1961336"/>
            <a:ext cx="265453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F2937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Trial &amp; alteration</a:t>
            </a:r>
            <a:endParaRPr lang="en-US" sz="1700" dirty="0"/>
          </a:p>
        </p:txBody>
      </p:sp>
      <p:sp>
        <p:nvSpPr>
          <p:cNvPr id="29" name="Text 25"/>
          <p:cNvSpPr/>
          <p:nvPr/>
        </p:nvSpPr>
        <p:spPr>
          <a:xfrm>
            <a:off x="9537164" y="2392362"/>
            <a:ext cx="265453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5C637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Fitting and changes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2489138" y="3682305"/>
            <a:ext cx="4317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546386" y="3818098"/>
            <a:ext cx="14789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F2937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2489138" y="4254282"/>
            <a:ext cx="2698682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F2937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Invoice &amp; payment</a:t>
            </a:r>
            <a:endParaRPr lang="en-US" sz="1700" dirty="0"/>
          </a:p>
        </p:txBody>
      </p:sp>
      <p:sp>
        <p:nvSpPr>
          <p:cNvPr id="33" name="Text 29"/>
          <p:cNvSpPr/>
          <p:nvPr/>
        </p:nvSpPr>
        <p:spPr>
          <a:xfrm>
            <a:off x="2489138" y="4685209"/>
            <a:ext cx="269868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5C637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Billing and collection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4939978" y="3682305"/>
            <a:ext cx="4317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997424" y="3818098"/>
            <a:ext cx="14789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F2937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4939978" y="4254282"/>
            <a:ext cx="280395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F2937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Delivery &amp; reporting</a:t>
            </a:r>
            <a:endParaRPr lang="en-US" sz="1700" dirty="0"/>
          </a:p>
        </p:txBody>
      </p:sp>
      <p:sp>
        <p:nvSpPr>
          <p:cNvPr id="37" name="Text 33"/>
          <p:cNvSpPr/>
          <p:nvPr/>
        </p:nvSpPr>
        <p:spPr>
          <a:xfrm>
            <a:off x="4939978" y="4658320"/>
            <a:ext cx="254628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5C637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Delivery reports</a:t>
            </a:r>
            <a:endParaRPr lang="en-US" sz="1250" dirty="0"/>
          </a:p>
        </p:txBody>
      </p:sp>
      <p:sp>
        <p:nvSpPr>
          <p:cNvPr id="38" name="Shape 34"/>
          <p:cNvSpPr/>
          <p:nvPr/>
        </p:nvSpPr>
        <p:spPr>
          <a:xfrm>
            <a:off x="7238620" y="3682305"/>
            <a:ext cx="4317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295967" y="3818098"/>
            <a:ext cx="14789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F2937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07</a:t>
            </a:r>
            <a:endParaRPr lang="en-US" sz="1600" dirty="0"/>
          </a:p>
        </p:txBody>
      </p:sp>
      <p:sp>
        <p:nvSpPr>
          <p:cNvPr id="40" name="Shape 36"/>
          <p:cNvSpPr/>
          <p:nvPr/>
        </p:nvSpPr>
        <p:spPr>
          <a:xfrm>
            <a:off x="9537164" y="3682305"/>
            <a:ext cx="431789" cy="431800"/>
          </a:xfrm>
          <a:prstGeom prst="rect">
            <a:avLst/>
          </a:prstGeom>
          <a:solidFill>
            <a:srgbClr val="7A1128"/>
          </a:solidFill>
          <a:ln w="19050">
            <a:solidFill>
              <a:srgbClr val="7A1128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9594610" y="3818098"/>
            <a:ext cx="14789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07</a:t>
            </a:r>
            <a:endParaRPr lang="en-US" sz="1600" dirty="0"/>
          </a:p>
        </p:txBody>
      </p:sp>
      <p:sp>
        <p:nvSpPr>
          <p:cNvPr id="42" name="Text 38"/>
          <p:cNvSpPr/>
          <p:nvPr/>
        </p:nvSpPr>
        <p:spPr>
          <a:xfrm>
            <a:off x="2489138" y="5974556"/>
            <a:ext cx="970255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5C637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Order workflow screenshot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886207" y="6446441"/>
            <a:ext cx="1305388" cy="431998"/>
          </a:xfrm>
          <a:prstGeom prst="rect">
            <a:avLst/>
          </a:prstGeom>
          <a:solidFill>
            <a:srgbClr val="EFE9F6"/>
          </a:solidFill>
          <a:ln w="12700">
            <a:solidFill>
              <a:srgbClr val="EFE9F6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79195" y="330200"/>
            <a:ext cx="660185" cy="660202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9393" y="1246886"/>
            <a:ext cx="1191230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2F2937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DBMS PROJECT · CONCLUSION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9393" y="1536045"/>
            <a:ext cx="1116907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30" kern="100" dirty="0">
                <a:solidFill>
                  <a:srgbClr val="2F2937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279393" y="2192834"/>
            <a:ext cx="2806431" cy="31552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8" name="Text 5"/>
          <p:cNvSpPr/>
          <p:nvPr/>
        </p:nvSpPr>
        <p:spPr>
          <a:xfrm>
            <a:off x="279393" y="2345472"/>
            <a:ext cx="11169073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F2937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Lumière Boutique centralizes the tailoring lifecycle in a normalized MySQL database connected to a Python desktop interface.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F2937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It improves traceability across measurements, stock, orders, trials, alterations, billing, and payments.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79393" y="3963396"/>
            <a:ext cx="1191230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2F2937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FUTURE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9393" y="4219575"/>
            <a:ext cx="351344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F2937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Web/mobile access</a:t>
            </a:r>
            <a:endParaRPr lang="en-US" sz="15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F2937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WhatsApp notifications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250028" y="4219575"/>
            <a:ext cx="32848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F2937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Barcode tagging</a:t>
            </a:r>
            <a:endParaRPr lang="en-US" sz="15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F2937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Predictive inventory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991970" y="4242395"/>
            <a:ext cx="406588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F2937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POS integration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79393" y="5768935"/>
            <a:ext cx="11169073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F2937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Thank you. Questions?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015084" y="4232870"/>
            <a:ext cx="12700" cy="5334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5" name="Shape 12"/>
          <p:cNvSpPr/>
          <p:nvPr/>
        </p:nvSpPr>
        <p:spPr>
          <a:xfrm>
            <a:off x="7757025" y="4232870"/>
            <a:ext cx="12700" cy="5334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6" name="Text 13"/>
          <p:cNvSpPr/>
          <p:nvPr/>
        </p:nvSpPr>
        <p:spPr>
          <a:xfrm>
            <a:off x="609585" y="6450251"/>
            <a:ext cx="181704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48" kern="100" dirty="0">
                <a:solidFill>
                  <a:srgbClr val="2F2937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10 /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2026-10-07T16:58:18Z</dcterms:created>
  <dcterms:modified xsi:type="dcterms:W3CDTF">2026-10-07T16:58:18Z</dcterms:modified>
</cp:coreProperties>
</file>